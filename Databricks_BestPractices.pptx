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F4631E">
              <a:alpha val="12000"/>
            </a:srgbClr>
          </a:solidFill>
          <a:ln w="12700">
            <a:solidFill>
              <a:srgbClr val="F4631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2926080"/>
            <a:ext cx="3474720" cy="3474720"/>
          </a:xfrm>
          <a:prstGeom prst="ellipse">
            <a:avLst/>
          </a:prstGeom>
          <a:solidFill>
            <a:srgbClr val="26A69A">
              <a:alpha val="15000"/>
            </a:srgbClr>
          </a:solidFill>
          <a:ln w="12700">
            <a:solidFill>
              <a:srgbClr val="26A69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2926080" cy="292608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PRACTICES GUIDE  ·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SQL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Notebooks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64592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Efficient, Maintainable &amp; Scalable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Databricks Training Programme  ·  Data Engineers &amp; Analytics Developers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9848"/>
            <a:ext cx="502920" cy="502920"/>
          </a:xfrm>
          <a:prstGeom prst="ellipse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 Query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984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Partitioning, Z-ordering, predicate pushdown, avoiding anti-patterns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0"/>
            <a:ext cx="822960" cy="32004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mins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37944"/>
            <a:ext cx="502920" cy="502920"/>
          </a:xfrm>
          <a:prstGeom prst="ellipse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7739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 Code Quality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665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CTEs, naming conventions, Delta best practices, schema safety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1865376"/>
            <a:ext cx="822960" cy="32004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8653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mins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32304"/>
            <a:ext cx="841248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06040"/>
            <a:ext cx="502920" cy="502920"/>
          </a:xfrm>
          <a:prstGeom prst="ellipse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542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PySpark 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834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Cluster sizing, DataFrames vs RDDs, broadcast joins, caching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2633472"/>
            <a:ext cx="822960" cy="32004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6334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mins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841248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74136"/>
            <a:ext cx="502920" cy="502920"/>
          </a:xfrm>
          <a:prstGeom prst="ellipse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310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PySpark Code Quality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027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Modular notebooks, magic commands, error handling, testing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63840" y="3401568"/>
            <a:ext cx="822960" cy="32004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34015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mins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68496"/>
            <a:ext cx="841248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42232"/>
            <a:ext cx="502920" cy="502920"/>
          </a:xfrm>
          <a:prstGeom prst="ellipse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0782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Common Pitfalls &amp; Summary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43708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Anti-patterns to avoid, quick reference, key takeaways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63840" y="4169664"/>
            <a:ext cx="822960" cy="32004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41696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5 mins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Objective: Write efficient, readable, and production-ready Databricks SQL and PySpark code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384048" cy="384048"/>
          </a:xfrm>
          <a:prstGeom prst="rect">
            <a:avLst>
              <a:gd name="adj" fmla="val 14286"/>
            </a:avLst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SQL Query Performance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  ⚡ Use Partitioning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Partition large tables by date or key column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Prune partitions in WHERE clause to skip unnecessary data reads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Avoid over-partitioning (aim for 128MB–1GB per partition)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76272"/>
            <a:ext cx="64008" cy="1261872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31E"/>
                </a:solidFill>
              </a:rPr>
              <a:t>  🔍 Z-Order for Queries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52374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Use OPTIMIZE … ZORDER BY on high-cardinality filter columns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Z-ordering co-locates related data for faster skipping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Best on columns used in WHERE / JOIN predicates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9584"/>
            <a:ext cx="64008" cy="1261872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21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AE66"/>
                </a:solidFill>
              </a:rPr>
              <a:t>  📌 Predicate Pushdown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87705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Filter early — place WHERE conditions before JOINs in CTEs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Avoid applying functions on filter columns (e.g. YEAR(date_col))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Use partition columns directly: date_col = '2024-01-01'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206240" cy="27432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804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✓  Good SQL Pattern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20624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17043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Partition pruning + predicate pushdown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filtered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customer_id, order_total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  sales.orders          -- partitioned by order_date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 order_date = '2024-03-01'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 status     = 'COMPLETED'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SUM(order_total) AS 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filtered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33472"/>
            <a:ext cx="4206240" cy="274320"/>
          </a:xfrm>
          <a:prstGeom prst="rect">
            <a:avLst/>
          </a:prstGeom>
          <a:solidFill>
            <a:srgbClr val="3E1A1A"/>
          </a:solidFill>
          <a:ln w="12700">
            <a:solidFill>
              <a:srgbClr val="3E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6334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2F2F"/>
                </a:solidFill>
              </a:rPr>
              <a:t>✗  Anti-pattern to Avoid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07792"/>
            <a:ext cx="4206240" cy="105156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299923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Avoid functions on filter columns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SUM(order_total)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sales.orders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YEAR(order_date) = 2024   -- full scan!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UPPER(status) = 'COMPLETED'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4069080"/>
            <a:ext cx="420624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069080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40690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💡 Run OPTIMIZE &amp; ANALYZE TABLE weekly on high-traffic Delta tables to keep statistics fresh for the query planner.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384048" cy="384048"/>
          </a:xfrm>
          <a:prstGeom prst="rect">
            <a:avLst>
              <a:gd name="adj" fmla="val 14286"/>
            </a:avLst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SQL Code Quality &amp; Delta Best Practices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783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  📝 Use CTEs, Not Subqueries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152144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Break complex queries into named CTEs for readability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One CTE per logical step; avoid deeply nested subqueries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Re-use CTEs within the same query instead of repeating logic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04672"/>
            <a:ext cx="64008" cy="1783080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31E"/>
                </a:solidFill>
              </a:rPr>
              <a:t>  🏷️ Naming Conventions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152144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snake_case for columns and tables: order_total, customer_id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Prefix temp views: tmp_sales_summary, stg_customers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Uppercase SQL keywords: SELECT, FROM, WHERE, GROUP BY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64008" cy="178308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AE66"/>
                </a:solidFill>
              </a:rPr>
              <a:t>  🔒 Schema &amp; Data Safety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09067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Always use MERGE for upserts — never INSERT OVERWRITE on production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Add explicit column lists in INSERT/SELECT — avoid SELECT *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Use TRY_CAST / TRY_DIVIDE to handle nulls gracefully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7830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  ⚙️ Delta Lake Patterns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09067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Use VACUUM RETAIN 7 DAYS to manage storage costs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Enable auto-optimize: delta.autoOptimize.optimizeWrite = true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Time travel for auditing: SELECT * FROM tbl VERSION AS OF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3550"/>
                </a:solidFill>
              </a:rPr>
              <a:t>📌  Always wrap multi-step SQL logic in a transaction bracket or use Delta MERGE to ensure atomicity and avoid partial writes.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384048" cy="384048"/>
          </a:xfrm>
          <a:prstGeom prst="rect">
            <a:avLst>
              <a:gd name="adj" fmla="val 14286"/>
            </a:avLst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SQL in Practice — CTE &amp; MERGE Patterns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CTE Pattern (Readable, Reusable)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114800" cy="246888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1887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1: filter raw 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raw_events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user_id, event_type,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event_date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  events.raw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 event_date &gt;= '2024-01-01'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2: aggregate per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user_summary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user_id,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COUNT(*) AS event_count,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MAX(event_date) AS last_seen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  raw_events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user_id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user_summary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event_count &gt;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Delta MERGE (Safe Upsert)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246888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Safe upsert into Delta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INTO gold.customers AS tgt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customer_id,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name, email, updated_at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  staging.customers_today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src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tgt.customer_id = src.customer_id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MATCHED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src.updated_at &gt; tgt.updated_at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SET *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NOT MATCHED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*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0752"/>
            <a:ext cx="2788920" cy="21945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7307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9502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One CTE = one logical step. Name them by what they produce.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3730752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3730752"/>
            <a:ext cx="2788920" cy="219456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7307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9502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Always include an updated_at guard to avoid no-op overwrites.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3730752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730752"/>
            <a:ext cx="2788920" cy="219456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7307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VACUUM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9502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Pair MERGE with VACUUM to prevent small-file accumulation.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384048" cy="384048"/>
          </a:xfrm>
          <a:prstGeom prst="rect">
            <a:avLst>
              <a:gd name="adj" fmla="val 14286"/>
            </a:avLst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PySpark Architecture &amp; Performance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  🗂️ DataFrames over RDDs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Always use DataFrame/Dataset API — never raw RDDs for new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Catalyst optimizer only applies to DataFrame operations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Avoid .rdd.map() calls which bypass optimization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76272"/>
            <a:ext cx="64008" cy="1261872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31E"/>
                </a:solidFill>
              </a:rPr>
              <a:t>  📡 Broadcast Small 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52374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Broadcast joins for tables &lt; 10 MB to avoid shuffle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spark.sql.autoBroadcastJoinThreshold = 10MB (default)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Use broadcast(df) hint explicitly for clarity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9584"/>
            <a:ext cx="64008" cy="1261872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AE66"/>
                </a:solidFill>
              </a:rPr>
              <a:t>  💾 Cache Strategically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87705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.cache() or .persist() only for DataFrames reused 2+ times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Unpersist after use: df.unpersist() to free memory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Prefer MEMORY_AND_DISK_SER for large datasets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804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Broadcast Join Example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78992"/>
            <a:ext cx="429768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170432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functions as 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pyspark.sql.functions import broadcast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Small lookup table → broadcast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country_df = spark.table('ref.countries')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orders_df.join(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broadcast(country_df),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on='country_code',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how='left'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2606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Cache &amp; Unpersist Pattern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4297680" cy="132588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29718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Cache only if reused multiple times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enriched =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raw_df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.join(broadcast(lookup_df), 'id')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.filter(F.col('active') == 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enriched.cache()   # materialise once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= enriched.count()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enriched.limit(100).toPandas()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enriched.unpersist()  # free memory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4315968"/>
            <a:ext cx="429768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15968"/>
            <a:ext cx="64008" cy="502920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4315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</a:rPr>
              <a:t>⚠️  Avoid .count() or .show() inside loops — each is a Spark action that triggers a full job. Collect once, iterate in Python.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384048" cy="384048"/>
          </a:xfrm>
          <a:prstGeom prst="rect">
            <a:avLst>
              <a:gd name="adj" fmla="val 14286"/>
            </a:avLst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PySpark Code Quality &amp; Notebook Structure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  📦 Modular Notebooks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Separate ingestion, transformation, and output into different notebooks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Use %run or dbutils.notebook.run() to chain notebooks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Keep each notebook under ~200 lines for maintainability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76272"/>
            <a:ext cx="64008" cy="1261872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31E"/>
                </a:solidFill>
              </a:rPr>
              <a:t>  🧱 Functions &amp; Type Hints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52374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Wrap logic in functions; avoid top-level procedural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Add type hints and docstrings to every function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Return DataFrames from functions — avoid in-place mutation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9584"/>
            <a:ext cx="64008" cy="1261872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AE66"/>
                </a:solidFill>
              </a:rPr>
              <a:t>  🛡️ Error Handling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87705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Use try/except around Spark actions and file I/O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Log errors with display() or dbutils.notebook.exit()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55A64"/>
                </a:solidFill>
              </a:rPr>
              <a:t>Never silently swallow exceptions in production pipelines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804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Clean Notebook Function Pattern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78992"/>
            <a:ext cx="4297680" cy="283464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170432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DataFrame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functions as 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clean_orders(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df: DataFrame,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drop_cols: List[str] = None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DataFrame: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Remove nulls, cast types,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 unwanted columns.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drop_cols = drop_cols or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.dropna(subset=['order_id'])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.withColumn('amount',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F.col('amount').cast('double'))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.drop(*drop_cols)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clean_df = clean_orders(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raw_df, drop_cols=['legacy_id']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384048" cy="384048"/>
          </a:xfrm>
          <a:prstGeom prst="rect">
            <a:avLst>
              <a:gd name="adj" fmla="val 14286"/>
            </a:avLst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Notebook Magic Commands &amp; Spark Configuration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Essential Magic Commands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411480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Purpose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%sql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 SQL directly in a Python notebook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Markdown for documentation &amp; section headers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%run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 another notebook (share functions/vars)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Shell commands (install libs, check files)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%pip install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Install Python packages in notebook scope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%fs ls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DBFS / cloud storage paths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dbutils.widgets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Parameterise notebooks for job runs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804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Spark Session Configuration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115568"/>
            <a:ext cx="4206240" cy="192024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1207008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at notebook start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spark.conf.set(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'spark.sql.shuffle.partitions', '200'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spark.conf.set(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'spark.databricks.delta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.optimizeWrite.enabled', 'true'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spark.conf.set(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'spark.databricks.delta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.autoCompact.enabled', 'true'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3127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</a:rPr>
              <a:t>Widget Parameters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3401568"/>
            <a:ext cx="4206240" cy="100584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E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349300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at top of notebook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dbutils.widgets.text(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'start_date', '2024-01-01')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dbutils.widgets.text(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'env', 'dev')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dbutils.widgets.get('start_date')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  = dbutils.widgets.get('env')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4498848"/>
            <a:ext cx="420624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4498848"/>
            <a:ext cx="64008" cy="36576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4498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✅  Always remove dbutils.widgets.removeAll() at the end to prevent stale widget state across job runs.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384048" cy="384048"/>
          </a:xfrm>
          <a:prstGeom prst="rect">
            <a:avLst>
              <a:gd name="adj" fmla="val 14286"/>
            </a:avLst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Common Pitfalls to Avoid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1261872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914400"/>
            <a:ext cx="411480" cy="237744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144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896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SELECT * in production queries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2070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Always specify column names — SELECT * causes full column reads on Parquet and breaks schema evolution.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64008" cy="1261872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286000"/>
            <a:ext cx="411480" cy="237744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860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CROSS JOINs without awareness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5786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An accidental cartesian product on large tables will OOM your cluster. Always verify join keys are correct.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66160"/>
            <a:ext cx="64008" cy="12618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657600"/>
            <a:ext cx="411480" cy="23774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576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Skipping VACUUM on Delta tables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Without VACUUM, Delta retains all old file versions. Storage costs grow unbounded — schedule weekly VACUUM.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822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822960"/>
            <a:ext cx="64008" cy="12618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914400"/>
            <a:ext cx="411480" cy="23774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9144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76088" y="896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Calling .toPandas() on large DataFrames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12070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toPandas() collects ALL data to the driver. Use .limit(n).toPandas() for sampling, never on full production DFs.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1945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194560"/>
            <a:ext cx="64008" cy="12618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18888" y="2286000"/>
            <a:ext cx="411480" cy="23774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2860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76088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Using Python loops instead of Spark ops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25786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Looping over rows in Python is 100–1000× slower. Use F.when(), F.expr(), or .transform() instead.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5661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566160"/>
            <a:ext cx="64008" cy="1261872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18888" y="3657600"/>
            <a:ext cx="411480" cy="237744"/>
          </a:xfrm>
          <a:prstGeom prst="rect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36576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76088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Hardcoding paths &amp; secrets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9502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</a:rPr>
              <a:t>Never hardcode ADLS paths or access keys in notebooks. Use dbutils.secrets.get() and parameterise paths via widgets.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SQL: Partition &amp; Z-Order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1430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Always partition on date/key columns and Z-order on query predicates. Filter early to leverage partition pruning.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8595360" cy="0"/>
          </a:xfrm>
          <a:prstGeom prst="line">
            <a:avLst/>
          </a:prstGeom>
          <a:noFill/>
          <a:ln w="9525">
            <a:solidFill>
              <a:srgbClr val="E8ED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438912" cy="438912"/>
          </a:xfrm>
          <a:prstGeom prst="ellipse">
            <a:avLst/>
          </a:prstGeom>
          <a:solidFill>
            <a:srgbClr val="F4631E"/>
          </a:solidFill>
          <a:ln w="12700">
            <a:solidFill>
              <a:srgbClr val="F463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31E"/>
                </a:solidFill>
              </a:rPr>
              <a:t>SQL: CTEs &amp; MERGE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65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Prefer CTEs over nested subqueries. Use Delta MERGE for upserts — never INSERT OVERWRITE on live tables.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8595360" cy="0"/>
          </a:xfrm>
          <a:prstGeom prst="line">
            <a:avLst/>
          </a:prstGeom>
          <a:noFill/>
          <a:ln w="9525">
            <a:solidFill>
              <a:srgbClr val="E8ED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78608"/>
            <a:ext cx="438912" cy="438912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AE66"/>
                </a:solidFill>
              </a:rPr>
              <a:t>PySpark: DataFrames Always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788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Use the DataFrame API and Catalyst optimizer. Avoid RDD operations and Python loops — embrace vectorised Spark functions.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8595360" cy="0"/>
          </a:xfrm>
          <a:prstGeom prst="line">
            <a:avLst/>
          </a:prstGeom>
          <a:noFill/>
          <a:ln w="9525">
            <a:solidFill>
              <a:srgbClr val="E8ED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01568"/>
            <a:ext cx="438912" cy="438912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550"/>
                </a:solidFill>
              </a:rPr>
              <a:t>PySpark: Broadcast &amp; Cache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611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Broadcast small lookup tables. Cache DataFrames only when reused. Always unpersist() to return memory to the cluster.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968496"/>
            <a:ext cx="8595360" cy="0"/>
          </a:xfrm>
          <a:prstGeom prst="line">
            <a:avLst/>
          </a:prstGeom>
          <a:noFill/>
          <a:ln w="9525">
            <a:solidFill>
              <a:srgbClr val="E8ED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24528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Notebooks: Modular &amp; Typed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44348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One notebook = one concern. Write typed, documented functions. Parameterise with widgets; never hardcode paths or secrets.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Next Session: Data Engineering with Databricks &amp; Delta Lake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4114800" cy="4114800"/>
          </a:xfrm>
          <a:prstGeom prst="ellipse">
            <a:avLst/>
          </a:prstGeom>
          <a:solidFill>
            <a:srgbClr val="F4631E">
              <a:alpha val="12000"/>
            </a:srgbClr>
          </a:solidFill>
          <a:ln w="12700">
            <a:solidFill>
              <a:srgbClr val="F4631E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1887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926080" y="2697480"/>
            <a:ext cx="329184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Open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Next Session: Data Engineering with Databricks &amp; Delta Lake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SQL &amp; PySpark Best Practices</dc:title>
  <dc:subject>PptxGenJS Presentation</dc:subject>
  <dc:creator>PptxGenJS</dc:creator>
  <cp:lastModifiedBy>PptxGenJS</cp:lastModifiedBy>
  <cp:revision>1</cp:revision>
  <dcterms:created xsi:type="dcterms:W3CDTF">2026-04-20T09:33:03Z</dcterms:created>
  <dcterms:modified xsi:type="dcterms:W3CDTF">2026-04-20T09:33:03Z</dcterms:modified>
</cp:coreProperties>
</file>